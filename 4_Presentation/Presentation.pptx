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69" r:id="rId5"/>
    <p:sldId id="265" r:id="rId6"/>
    <p:sldId id="259" r:id="rId7"/>
    <p:sldId id="270" r:id="rId8"/>
    <p:sldId id="260" r:id="rId9"/>
    <p:sldId id="271" r:id="rId10"/>
    <p:sldId id="272" r:id="rId11"/>
    <p:sldId id="273" r:id="rId12"/>
    <p:sldId id="261" r:id="rId13"/>
    <p:sldId id="266" r:id="rId14"/>
    <p:sldId id="274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A25D70-4A55-4F72-B9C5-A69CDBF4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957100-6D8B-4161-9F2F-C0A949EC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8B065-EE51-4AE2-A94C-86249998F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8455" y="2108785"/>
            <a:ext cx="5866860" cy="1370183"/>
          </a:xfrm>
        </p:spPr>
        <p:txBody>
          <a:bodyPr anchor="b">
            <a:normAutofit/>
          </a:bodyPr>
          <a:lstStyle/>
          <a:p>
            <a:r>
              <a:rPr lang="en-US" sz="3200" noProof="0" dirty="0">
                <a:solidFill>
                  <a:schemeClr val="tx2"/>
                </a:solidFill>
              </a:rPr>
              <a:t>Text Classification for Hate Speech Detection</a:t>
            </a:r>
            <a:endParaRPr lang="de-DE" sz="3200" noProof="0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6126" y="3720628"/>
            <a:ext cx="4437580" cy="1216028"/>
          </a:xfrm>
        </p:spPr>
        <p:txBody>
          <a:bodyPr>
            <a:normAutofit/>
          </a:bodyPr>
          <a:lstStyle/>
          <a:p>
            <a:r>
              <a:rPr lang="de-DE" sz="1800" dirty="0">
                <a:solidFill>
                  <a:schemeClr val="tx2"/>
                </a:solidFill>
              </a:rPr>
              <a:t>Mohammad Ayham Nashar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8999293-B054-4B57-A26F-D04C2BB11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43336"/>
            <a:ext cx="3872284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505D8A-F41A-450D-A648-E77DF6B8D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BD6DCE-6A81-4F34-9958-67B578EA16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C462BE8-CD72-48CF-8A7B-C716D2B99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C2CDB70-40F1-4D00-8F17-A532E732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1945C4-D997-42F3-B59A-984CF006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51FE4A-9487-43BE-A388-13453574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44B0EF3-9992-4B95-8A43-6206B3FC3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41B1C1F-C2FE-4C47-9D74-ADB9B53F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8177B-A49E-4E24-9007-07A0EDD6A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043CEA66-07B8-30A5-3096-84104C6B798B}"/>
              </a:ext>
            </a:extLst>
          </p:cNvPr>
          <p:cNvSpPr txBox="1">
            <a:spLocks/>
          </p:cNvSpPr>
          <p:nvPr/>
        </p:nvSpPr>
        <p:spPr>
          <a:xfrm>
            <a:off x="7308675" y="6015914"/>
            <a:ext cx="1339850" cy="35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>
                <a:solidFill>
                  <a:schemeClr val="tx2"/>
                </a:solidFill>
              </a:rPr>
              <a:t>03.07.2025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D1942232-83D0-49E2-AF9B-1F97E3C1E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9E70D72-6E23-4015-A4A6-85C120C19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Introduction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28A977F-B603-4D81-B0FC-C8DE048A7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183CE8C-E039-4B2F-A36E-5FD5CD5D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EB77281-FAB4-40D0-B3F3-264EC4AB2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15E59F3-75FC-494F-8737-5F00A4964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3ADDCFA-B066-4D79-AB71-062E66E58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457" y="1655102"/>
            <a:ext cx="6375914" cy="322762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de-DE" sz="12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de-DE" sz="1800" dirty="0">
                <a:solidFill>
                  <a:schemeClr val="tx2"/>
                </a:solidFill>
              </a:rPr>
              <a:t>Problem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de-DE" sz="1800" dirty="0">
                <a:solidFill>
                  <a:schemeClr val="tx2"/>
                </a:solidFill>
              </a:rPr>
              <a:t>	</a:t>
            </a:r>
            <a:r>
              <a:rPr lang="de-DE" sz="1400" dirty="0" err="1">
                <a:solidFill>
                  <a:schemeClr val="tx2"/>
                </a:solidFill>
              </a:rPr>
              <a:t>Detection</a:t>
            </a:r>
            <a:r>
              <a:rPr lang="de-DE" sz="1400" dirty="0">
                <a:solidFill>
                  <a:schemeClr val="tx2"/>
                </a:solidFill>
              </a:rPr>
              <a:t> </a:t>
            </a:r>
            <a:r>
              <a:rPr lang="de-DE" sz="1400" dirty="0" err="1">
                <a:solidFill>
                  <a:schemeClr val="tx2"/>
                </a:solidFill>
              </a:rPr>
              <a:t>of</a:t>
            </a:r>
            <a:r>
              <a:rPr lang="de-DE" sz="1400" dirty="0">
                <a:solidFill>
                  <a:schemeClr val="tx2"/>
                </a:solidFill>
              </a:rPr>
              <a:t> hate </a:t>
            </a:r>
            <a:r>
              <a:rPr lang="de-DE" sz="1400" dirty="0" err="1">
                <a:solidFill>
                  <a:schemeClr val="tx2"/>
                </a:solidFill>
              </a:rPr>
              <a:t>speech</a:t>
            </a:r>
            <a:r>
              <a:rPr lang="de-DE" sz="1400" dirty="0">
                <a:solidFill>
                  <a:schemeClr val="tx2"/>
                </a:solidFill>
              </a:rPr>
              <a:t> and offensive </a:t>
            </a:r>
            <a:r>
              <a:rPr lang="de-DE" sz="1400" dirty="0" err="1">
                <a:solidFill>
                  <a:schemeClr val="tx2"/>
                </a:solidFill>
              </a:rPr>
              <a:t>language</a:t>
            </a:r>
            <a:r>
              <a:rPr lang="de-DE" sz="1400" dirty="0">
                <a:solidFill>
                  <a:schemeClr val="tx2"/>
                </a:solidFill>
              </a:rPr>
              <a:t> in </a:t>
            </a:r>
            <a:r>
              <a:rPr lang="de-DE" sz="1400" dirty="0" err="1">
                <a:solidFill>
                  <a:schemeClr val="tx2"/>
                </a:solidFill>
              </a:rPr>
              <a:t>tweets</a:t>
            </a:r>
            <a:endParaRPr lang="de-DE" sz="1400" dirty="0">
              <a:solidFill>
                <a:schemeClr val="tx2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endParaRPr lang="de-DE" sz="14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de-DE" sz="1800" dirty="0">
                <a:solidFill>
                  <a:schemeClr val="tx2"/>
                </a:solidFill>
              </a:rPr>
              <a:t>Task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de-DE" sz="1400" dirty="0" err="1">
                <a:solidFill>
                  <a:schemeClr val="tx2"/>
                </a:solidFill>
              </a:rPr>
              <a:t>Multiclass</a:t>
            </a:r>
            <a:r>
              <a:rPr lang="de-DE" sz="1400" dirty="0">
                <a:solidFill>
                  <a:schemeClr val="tx2"/>
                </a:solidFill>
              </a:rPr>
              <a:t> </a:t>
            </a:r>
            <a:r>
              <a:rPr lang="de-DE" sz="1400" dirty="0" err="1">
                <a:solidFill>
                  <a:schemeClr val="tx2"/>
                </a:solidFill>
              </a:rPr>
              <a:t>text</a:t>
            </a:r>
            <a:r>
              <a:rPr lang="de-DE" sz="1400" dirty="0">
                <a:solidFill>
                  <a:schemeClr val="tx2"/>
                </a:solidFill>
              </a:rPr>
              <a:t> </a:t>
            </a:r>
            <a:r>
              <a:rPr lang="de-DE" sz="1400" dirty="0" err="1">
                <a:solidFill>
                  <a:schemeClr val="tx2"/>
                </a:solidFill>
              </a:rPr>
              <a:t>classification</a:t>
            </a:r>
            <a:endParaRPr lang="de-DE" sz="1400" dirty="0">
              <a:solidFill>
                <a:schemeClr val="tx2"/>
              </a:solidFill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78D9229-E61D-4FEE-8321-2F8B64A8C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FDD3CCB-26A3-4D79-AEB6-7A60CF980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9AC4470-5113-4709-B29F-CDB937F25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E0D146C-9DAB-421E-AE88-5F854BF3F7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2EB32A5-4408-4F6C-84B2-F9A908237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78770-5C1B-5839-6682-E689AFE0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D6E822AB-55BB-5398-7F29-6E6FDCE92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0BF83ED-821C-34B4-5312-4D8D20CF4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5E7539-5F28-8CDE-ED52-C730DE94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Literature Review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D371AFF-BF80-BF4C-CBF4-D6521D45E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03F0E97-1A3B-74BC-7844-067835B30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817E770-9639-BFBE-2E30-37DFBBE451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7232DD7-285A-8830-0D9F-909D46BB8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5133F7F-87E0-DE71-7AF6-C7336CB255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957C8-B696-4898-4A4E-D47E0B2CF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456" y="1655102"/>
            <a:ext cx="6719443" cy="322762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de-DE" sz="1800" dirty="0" err="1">
                <a:solidFill>
                  <a:schemeClr val="tx2"/>
                </a:solidFill>
              </a:rPr>
              <a:t>Hate</a:t>
            </a:r>
            <a:r>
              <a:rPr lang="de-DE" sz="1800" dirty="0">
                <a:solidFill>
                  <a:schemeClr val="tx2"/>
                </a:solidFill>
              </a:rPr>
              <a:t> Speech and Offensive Language Dataset: (Davidson et al., 2017)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tx2"/>
                </a:solidFill>
              </a:rPr>
              <a:t>~25,000 </a:t>
            </a:r>
            <a:r>
              <a:rPr lang="de-DE" sz="1400" dirty="0" err="1">
                <a:solidFill>
                  <a:schemeClr val="tx2"/>
                </a:solidFill>
              </a:rPr>
              <a:t>tweets</a:t>
            </a:r>
            <a:endParaRPr lang="de-DE" sz="1400" dirty="0">
              <a:solidFill>
                <a:schemeClr val="tx2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chemeClr val="tx2"/>
                </a:solidFill>
              </a:rPr>
              <a:t>3 </a:t>
            </a:r>
            <a:r>
              <a:rPr lang="de-DE" sz="1400" dirty="0" err="1">
                <a:solidFill>
                  <a:schemeClr val="tx2"/>
                </a:solidFill>
              </a:rPr>
              <a:t>classes</a:t>
            </a:r>
            <a:r>
              <a:rPr lang="de-DE" sz="1400" dirty="0">
                <a:solidFill>
                  <a:schemeClr val="tx2"/>
                </a:solidFill>
              </a:rPr>
              <a:t> (hate </a:t>
            </a:r>
            <a:r>
              <a:rPr lang="de-DE" sz="1400" dirty="0" err="1">
                <a:solidFill>
                  <a:schemeClr val="tx2"/>
                </a:solidFill>
              </a:rPr>
              <a:t>speech</a:t>
            </a:r>
            <a:r>
              <a:rPr lang="de-DE" sz="1400" dirty="0">
                <a:solidFill>
                  <a:schemeClr val="tx2"/>
                </a:solidFill>
              </a:rPr>
              <a:t>, offensive </a:t>
            </a:r>
            <a:r>
              <a:rPr lang="de-DE" sz="1400" dirty="0" err="1">
                <a:solidFill>
                  <a:schemeClr val="tx2"/>
                </a:solidFill>
              </a:rPr>
              <a:t>language</a:t>
            </a:r>
            <a:r>
              <a:rPr lang="de-DE" sz="1400" dirty="0">
                <a:solidFill>
                  <a:schemeClr val="tx2"/>
                </a:solidFill>
              </a:rPr>
              <a:t> and </a:t>
            </a:r>
            <a:r>
              <a:rPr lang="de-DE" sz="1400" dirty="0" err="1">
                <a:solidFill>
                  <a:schemeClr val="tx2"/>
                </a:solidFill>
              </a:rPr>
              <a:t>neither</a:t>
            </a:r>
            <a:r>
              <a:rPr lang="de-DE" sz="1400" dirty="0">
                <a:solidFill>
                  <a:schemeClr val="tx2"/>
                </a:solidFill>
              </a:rPr>
              <a:t>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de-DE" sz="1800" dirty="0">
                <a:solidFill>
                  <a:schemeClr val="tx2"/>
                </a:solidFill>
              </a:rPr>
              <a:t>C-LSTM </a:t>
            </a:r>
            <a:r>
              <a:rPr lang="de-DE" sz="1800" dirty="0" err="1">
                <a:solidFill>
                  <a:schemeClr val="tx2"/>
                </a:solidFill>
              </a:rPr>
              <a:t>for</a:t>
            </a:r>
            <a:r>
              <a:rPr lang="de-DE" sz="1800" dirty="0">
                <a:solidFill>
                  <a:schemeClr val="tx2"/>
                </a:solidFill>
              </a:rPr>
              <a:t> </a:t>
            </a:r>
            <a:r>
              <a:rPr lang="de-DE" sz="1800" dirty="0" err="1">
                <a:solidFill>
                  <a:schemeClr val="tx2"/>
                </a:solidFill>
              </a:rPr>
              <a:t>text</a:t>
            </a:r>
            <a:r>
              <a:rPr lang="de-DE" sz="1800" dirty="0">
                <a:solidFill>
                  <a:schemeClr val="tx2"/>
                </a:solidFill>
              </a:rPr>
              <a:t> </a:t>
            </a:r>
            <a:r>
              <a:rPr lang="de-DE" sz="1800" dirty="0" err="1">
                <a:solidFill>
                  <a:schemeClr val="tx2"/>
                </a:solidFill>
              </a:rPr>
              <a:t>classification</a:t>
            </a:r>
            <a:r>
              <a:rPr lang="de-DE" sz="1800" dirty="0">
                <a:solidFill>
                  <a:schemeClr val="tx2"/>
                </a:solidFill>
              </a:rPr>
              <a:t>: Zhou et al. (2015)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de-DE" sz="1800" dirty="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de-DE" sz="1800" dirty="0">
                <a:solidFill>
                  <a:schemeClr val="tx2"/>
                </a:solidFill>
              </a:rPr>
              <a:t>BERT </a:t>
            </a:r>
            <a:r>
              <a:rPr lang="de-DE" sz="1800" dirty="0" err="1">
                <a:solidFill>
                  <a:schemeClr val="tx2"/>
                </a:solidFill>
              </a:rPr>
              <a:t>for</a:t>
            </a:r>
            <a:r>
              <a:rPr lang="de-DE" sz="1800" dirty="0">
                <a:solidFill>
                  <a:schemeClr val="tx2"/>
                </a:solidFill>
              </a:rPr>
              <a:t> NLP: Devlin et al. (2018)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8A96B1D-FDCF-2771-EB04-9F818FE2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E1B5B9A-6CD0-49FC-88BB-23F2AB133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13D2282-465F-CEBC-9B4E-1417503D7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9444BAB-716D-0DE8-8061-0B355F29B7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FBDFB11-D0FA-ECCD-2CAF-305021B03B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5067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14A6E-9F38-77ED-9B72-6B321BE47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B3DE3AB4-AE25-40F7-762F-8977A5B94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DB2C5B0-9564-766E-8372-06C9F1280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BD34BB-66C1-57EC-6D6A-4FDD7285A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Dataset Characteristics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9104D8E-425C-2241-25F8-93FA82143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D7A6877-2556-DA2B-38E9-4B7CF297E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2CA751C-D4F3-EDF5-3B88-EF178373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7B71CB8-D429-4BC7-707D-313897537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1E18072-DB41-6D7C-ACB4-06CED8FB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A706C65-291C-9B78-9961-9B38D1790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ED1C46-B0C0-EB37-C3CB-05D99DF98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C3367A6-C8B7-02DD-ABDD-12B45C343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D63AC08-E556-7161-5ACE-8440CF785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C78C1E3-8AAA-DB30-DE1B-44A394BE4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8C9177A3-E672-A2EB-12C9-652019D6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435"/>
          <a:stretch>
            <a:fillRect/>
          </a:stretch>
        </p:blipFill>
        <p:spPr>
          <a:xfrm>
            <a:off x="508889" y="2452356"/>
            <a:ext cx="4100900" cy="247524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088ED03-A8EB-B2E5-F4CC-49BBB0DFA9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584" b="8069"/>
          <a:stretch>
            <a:fillRect/>
          </a:stretch>
        </p:blipFill>
        <p:spPr>
          <a:xfrm>
            <a:off x="4999414" y="1551777"/>
            <a:ext cx="2423668" cy="180866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5A57500-CA5C-B8A2-62FA-17A413B2052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58657" y="3850698"/>
            <a:ext cx="4267633" cy="313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9A2D6B21-FBCB-CA9D-42CF-26B7EB080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8FC5B-3B69-5287-C9CF-5FA157BEE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8543E3D-2221-1C9D-D94E-20FAFAA04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884D8FC-C41F-ED7D-471E-8D5534BE44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560C28C-8069-7415-D1B2-BAC340CF5A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4965B0B-A376-D1A9-2F55-66F88D147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81BF373-F7F7-62C4-DA5B-0D208CA89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7682AC-AC2C-C55D-C9AB-691F3DB55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2924191-8BBD-EBBD-6D7D-84089AEC7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37D594C-62C0-6431-CDFE-8FDA9CB52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C587AA2-24CC-4CEE-9D19-308D8CD58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87572A7-9BAB-ACBB-D8DE-0B0B376DEB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4" name="Grafik 23">
            <a:extLst>
              <a:ext uri="{FF2B5EF4-FFF2-40B4-BE49-F238E27FC236}">
                <a16:creationId xmlns:a16="http://schemas.microsoft.com/office/drawing/2014/main" id="{BB83CCD7-51C5-A397-E1A3-62875DA08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09" y="632177"/>
            <a:ext cx="8682151" cy="2575399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F0BF0DAD-8091-9DB0-3D5F-9E7E02186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323" y="3441812"/>
            <a:ext cx="3767137" cy="318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6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60">
            <a:extLst>
              <a:ext uri="{FF2B5EF4-FFF2-40B4-BE49-F238E27FC236}">
                <a16:creationId xmlns:a16="http://schemas.microsoft.com/office/drawing/2014/main" id="{17091B57-EB3F-BB86-552B-FCCAB15D3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1">
            <a:extLst>
              <a:ext uri="{FF2B5EF4-FFF2-40B4-BE49-F238E27FC236}">
                <a16:creationId xmlns:a16="http://schemas.microsoft.com/office/drawing/2014/main" id="{70EDF392-B5C7-9B1F-C693-FC8D396F7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0BA5A7-630B-0A43-7093-C58028E24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Baseline Model</a:t>
            </a:r>
          </a:p>
        </p:txBody>
      </p:sp>
      <p:grpSp>
        <p:nvGrpSpPr>
          <p:cNvPr id="9" name="Group 62">
            <a:extLst>
              <a:ext uri="{FF2B5EF4-FFF2-40B4-BE49-F238E27FC236}">
                <a16:creationId xmlns:a16="http://schemas.microsoft.com/office/drawing/2014/main" id="{2F73CF19-F48F-8A67-E19E-A4DCECF2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10" name="Freeform: Shape 63">
              <a:extLst>
                <a:ext uri="{FF2B5EF4-FFF2-40B4-BE49-F238E27FC236}">
                  <a16:creationId xmlns:a16="http://schemas.microsoft.com/office/drawing/2014/main" id="{F14E8657-D151-8170-C0CE-207BDC868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64">
              <a:extLst>
                <a:ext uri="{FF2B5EF4-FFF2-40B4-BE49-F238E27FC236}">
                  <a16:creationId xmlns:a16="http://schemas.microsoft.com/office/drawing/2014/main" id="{DA5AFE0F-EE82-A300-DB41-AE6BBB60B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: Shape 65">
              <a:extLst>
                <a:ext uri="{FF2B5EF4-FFF2-40B4-BE49-F238E27FC236}">
                  <a16:creationId xmlns:a16="http://schemas.microsoft.com/office/drawing/2014/main" id="{7B8D08E8-E077-60DA-FC10-C42DAA854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66">
              <a:extLst>
                <a:ext uri="{FF2B5EF4-FFF2-40B4-BE49-F238E27FC236}">
                  <a16:creationId xmlns:a16="http://schemas.microsoft.com/office/drawing/2014/main" id="{E15BD305-4F38-296B-A003-D2F12667E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55">
            <a:extLst>
              <a:ext uri="{FF2B5EF4-FFF2-40B4-BE49-F238E27FC236}">
                <a16:creationId xmlns:a16="http://schemas.microsoft.com/office/drawing/2014/main" id="{281F1D9C-89C3-F8E6-765D-342A66872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16" name="Freeform: Shape 56">
              <a:extLst>
                <a:ext uri="{FF2B5EF4-FFF2-40B4-BE49-F238E27FC236}">
                  <a16:creationId xmlns:a16="http://schemas.microsoft.com/office/drawing/2014/main" id="{34B4FFC3-E8E6-90CB-7B05-D08048D6E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57">
              <a:extLst>
                <a:ext uri="{FF2B5EF4-FFF2-40B4-BE49-F238E27FC236}">
                  <a16:creationId xmlns:a16="http://schemas.microsoft.com/office/drawing/2014/main" id="{0B6D04F9-2144-030C-C272-71949D1D2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58">
              <a:extLst>
                <a:ext uri="{FF2B5EF4-FFF2-40B4-BE49-F238E27FC236}">
                  <a16:creationId xmlns:a16="http://schemas.microsoft.com/office/drawing/2014/main" id="{45861FE9-CC05-18C5-C7B5-1B601FB861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9" name="Freeform: Shape 59">
              <a:extLst>
                <a:ext uri="{FF2B5EF4-FFF2-40B4-BE49-F238E27FC236}">
                  <a16:creationId xmlns:a16="http://schemas.microsoft.com/office/drawing/2014/main" id="{51D8481C-CF1C-A160-7F47-5FCDCD825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5" name="Grafik 24">
            <a:extLst>
              <a:ext uri="{FF2B5EF4-FFF2-40B4-BE49-F238E27FC236}">
                <a16:creationId xmlns:a16="http://schemas.microsoft.com/office/drawing/2014/main" id="{9A4BE9F9-D4B8-AB2D-BC86-5089C1C4B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69" y="2762019"/>
            <a:ext cx="4397375" cy="3212267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3979D4E6-2C59-9253-3691-A5A667F1D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795" y="2876450"/>
            <a:ext cx="3542936" cy="319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86B11DB8-8005-2A71-2DAD-2290E372B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548" y="1371276"/>
            <a:ext cx="6296904" cy="11907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0A87A-AEEF-CCF9-25C7-5EF1490E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60">
            <a:extLst>
              <a:ext uri="{FF2B5EF4-FFF2-40B4-BE49-F238E27FC236}">
                <a16:creationId xmlns:a16="http://schemas.microsoft.com/office/drawing/2014/main" id="{710DE908-4FF9-4603-C9C7-FD8F6867A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1">
            <a:extLst>
              <a:ext uri="{FF2B5EF4-FFF2-40B4-BE49-F238E27FC236}">
                <a16:creationId xmlns:a16="http://schemas.microsoft.com/office/drawing/2014/main" id="{4E1006C8-3E1C-F70B-E1A6-AE118FC3A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48E502E-6109-1DF6-DA2A-E13FBFFF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Model Selection &amp; Feature Engineering</a:t>
            </a:r>
          </a:p>
        </p:txBody>
      </p:sp>
      <p:grpSp>
        <p:nvGrpSpPr>
          <p:cNvPr id="9" name="Group 62">
            <a:extLst>
              <a:ext uri="{FF2B5EF4-FFF2-40B4-BE49-F238E27FC236}">
                <a16:creationId xmlns:a16="http://schemas.microsoft.com/office/drawing/2014/main" id="{98F6197E-A827-EDBB-7EB8-D6BE8C098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10" name="Freeform: Shape 63">
              <a:extLst>
                <a:ext uri="{FF2B5EF4-FFF2-40B4-BE49-F238E27FC236}">
                  <a16:creationId xmlns:a16="http://schemas.microsoft.com/office/drawing/2014/main" id="{8AD03CA6-3CE7-472D-9E41-24CE3CC40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64">
              <a:extLst>
                <a:ext uri="{FF2B5EF4-FFF2-40B4-BE49-F238E27FC236}">
                  <a16:creationId xmlns:a16="http://schemas.microsoft.com/office/drawing/2014/main" id="{AC232EA5-438C-A4F4-8409-37C03F382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: Shape 65">
              <a:extLst>
                <a:ext uri="{FF2B5EF4-FFF2-40B4-BE49-F238E27FC236}">
                  <a16:creationId xmlns:a16="http://schemas.microsoft.com/office/drawing/2014/main" id="{58306CDC-14CF-8F6A-CA07-8822B9DFF1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66">
              <a:extLst>
                <a:ext uri="{FF2B5EF4-FFF2-40B4-BE49-F238E27FC236}">
                  <a16:creationId xmlns:a16="http://schemas.microsoft.com/office/drawing/2014/main" id="{73DBD76F-9D88-A59E-DE23-EC223B596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55">
            <a:extLst>
              <a:ext uri="{FF2B5EF4-FFF2-40B4-BE49-F238E27FC236}">
                <a16:creationId xmlns:a16="http://schemas.microsoft.com/office/drawing/2014/main" id="{4295AF7F-119E-145A-ACE7-B732A5EC6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16" name="Freeform: Shape 56">
              <a:extLst>
                <a:ext uri="{FF2B5EF4-FFF2-40B4-BE49-F238E27FC236}">
                  <a16:creationId xmlns:a16="http://schemas.microsoft.com/office/drawing/2014/main" id="{9B10F4E2-5327-8124-E817-5F12121D4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57">
              <a:extLst>
                <a:ext uri="{FF2B5EF4-FFF2-40B4-BE49-F238E27FC236}">
                  <a16:creationId xmlns:a16="http://schemas.microsoft.com/office/drawing/2014/main" id="{09CB9E37-C339-E876-22F4-15616F7584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58">
              <a:extLst>
                <a:ext uri="{FF2B5EF4-FFF2-40B4-BE49-F238E27FC236}">
                  <a16:creationId xmlns:a16="http://schemas.microsoft.com/office/drawing/2014/main" id="{359B99D1-03A3-9AD5-6B98-B7FB5B746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9" name="Freeform: Shape 59">
              <a:extLst>
                <a:ext uri="{FF2B5EF4-FFF2-40B4-BE49-F238E27FC236}">
                  <a16:creationId xmlns:a16="http://schemas.microsoft.com/office/drawing/2014/main" id="{6EDE0782-056E-4494-95DB-4172C5B36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7BA1D1D0-F44F-FED8-16B5-6B7FB01EF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115" y="2272838"/>
            <a:ext cx="5403484" cy="202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Grafik 9">
            <a:extLst>
              <a:ext uri="{FF2B5EF4-FFF2-40B4-BE49-F238E27FC236}">
                <a16:creationId xmlns:a16="http://schemas.microsoft.com/office/drawing/2014/main" id="{D5EE6A90-6DD4-0C13-39B6-B5797B95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309" y="3819526"/>
            <a:ext cx="2574183" cy="231775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133E136-AF7E-B448-7518-C6192831B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310" y="1261423"/>
            <a:ext cx="2574182" cy="231775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495453A-B5A7-1909-DE7D-A6C2A195C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10" y="1173620"/>
            <a:ext cx="3586340" cy="322908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F04E587-B48C-E1A8-E4E7-8D29649FCF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231"/>
          <a:stretch>
            <a:fillRect/>
          </a:stretch>
        </p:blipFill>
        <p:spPr>
          <a:xfrm>
            <a:off x="286978" y="4620976"/>
            <a:ext cx="4205244" cy="887435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5FBE0D0-8A85-64DB-9773-5C027385FB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185"/>
          <a:stretch>
            <a:fillRect/>
          </a:stretch>
        </p:blipFill>
        <p:spPr>
          <a:xfrm>
            <a:off x="286749" y="5508411"/>
            <a:ext cx="4205244" cy="200923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CEDC045-7698-17AC-2517-9ECF98FC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Traditional ML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82AA3-3443-913C-665E-1CDB9DDF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5A7CCC3-C02A-3454-7BBB-3C60EF917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496C5E-B964-664D-97BB-AA8F41D5C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149023-D018-8B57-1F1E-818CB79AD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C5B3B17-E9A2-C842-23D0-D2ED07D98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90A5B51-E893-7AE3-3C75-B8079CC58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4E4CA86-230A-CB84-495F-297722113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B9DC5B5-DA48-FDF3-33E3-9252F5683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086DDCB-113C-8104-64A6-7E448040E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2E81384-039F-D17D-DCE8-D293E4C1B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B99629C-1B0A-294C-878A-8144CC5B6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120FF61-1866-DC2E-1956-2E56F6DEE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7E969A4-AFA2-3B9D-70CA-8555E716F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B36D66BF-9FF7-5D21-04F5-8EF8D8AA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Neural Network Model &amp; Training</a:t>
            </a:r>
          </a:p>
        </p:txBody>
      </p:sp>
      <p:pic>
        <p:nvPicPr>
          <p:cNvPr id="3" name="Grafik 2" descr="Ein Bild, das Text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684E2E5B-20FF-A3D4-6181-23C14F36F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75" y="1410627"/>
            <a:ext cx="6739449" cy="4341545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822A604B-2D96-4BBA-2487-2B3CB8FC5E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6053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85B69-227B-6131-A72F-92702AC1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FA54395-19D1-0CC4-99FA-E5794012E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3AC558-2F9A-CC66-A628-366DB89D8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DCB0E2D-5E7A-30B0-B958-A8639E131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6F77E39-C8DA-48E7-5705-EA5A7B78E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5E7693-F80E-6507-8ADE-DFF7287149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77BD8A6-DF43-22F9-54CA-C642CC92B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82A75CB-4E83-DAA6-8470-A2A7FACFB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C7BB99-CA86-26F4-F39D-ABAD63837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CA87614-7C33-175A-2CDA-45ECAC51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8B512E4-99CE-DE8D-812A-86D5A5C2B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6C8820D-39BA-75C1-74EB-BB8E71589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6497CF-D69C-4F24-A09F-2EB82883E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E803FBB8-BFA7-B980-F986-D28AE016B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Neural Network Results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1D79EDE-34D8-7025-594D-E7582651E1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0295323-DE93-C939-9A48-7A9E4E2A1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3880201"/>
            <a:ext cx="3220803" cy="2899957"/>
          </a:xfrm>
          <a:prstGeom prst="rect">
            <a:avLst/>
          </a:prstGeom>
        </p:spPr>
      </p:pic>
      <p:pic>
        <p:nvPicPr>
          <p:cNvPr id="11" name="Grafik 10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D4ED9D85-D8BA-445A-CBDC-BC310E1DF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379" y="1088991"/>
            <a:ext cx="6772956" cy="279121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DD5F543-26BE-4675-109F-BB19AF41E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99" y="4084601"/>
            <a:ext cx="3656020" cy="240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570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C13CF-7CCD-6546-9E02-F435ACCC3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2087CB2-B936-A2A1-513B-4408FDF03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E34941-91B6-1651-9B4B-BA9F28DA4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5764AA-8B7A-2CAE-CA71-7D7876C38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AD894BE-F699-B9B4-F441-DFCA6C93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067D3AF-3F1C-A675-B851-027FD594B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46EAD2-4D25-0084-1477-7FEB84716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9A07652-D78E-ACB9-F656-E2BA3C919D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9526952-E997-5A28-AC92-5569B6141E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0856F76-25BE-B35B-4CF9-C295D7B2E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27E98C8-AE44-4E47-0207-DD6F551211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DE0518F-667C-8E1C-C236-A700177EF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A5C53E4-69DD-730F-C822-0611C7480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44FB1450-68EF-F94A-F606-1B1EE180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Testing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7A30C30-AD3F-08FF-6A25-B40144130D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428CE3C-3022-4947-5222-EC1D9D2E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540" y="1828087"/>
            <a:ext cx="3212633" cy="370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43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442E0531-DA46-DCAC-77AE-81B35735BD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31"/>
          <a:stretch>
            <a:fillRect/>
          </a:stretch>
        </p:blipFill>
        <p:spPr>
          <a:xfrm>
            <a:off x="2907913" y="4472603"/>
            <a:ext cx="3325887" cy="98520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2C9A26B-314C-0671-946B-AF1DDFAB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Challenges and Errors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5E6CD06-9C00-DECD-B5C0-C73C7A793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990" y="1815187"/>
            <a:ext cx="6375914" cy="322762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chemeClr val="tx2"/>
                </a:solidFill>
              </a:rPr>
              <a:t>Overfitting</a:t>
            </a:r>
            <a:endParaRPr lang="de-DE" sz="1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800" dirty="0">
                <a:solidFill>
                  <a:schemeClr val="tx2"/>
                </a:solidFill>
              </a:rPr>
              <a:t>Class Imbalance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chemeClr val="tx2"/>
                </a:solidFill>
              </a:rPr>
              <a:t>Misclassifications</a:t>
            </a:r>
            <a:endParaRPr lang="de-DE" sz="18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800" dirty="0" err="1">
                <a:solidFill>
                  <a:schemeClr val="tx2"/>
                </a:solidFill>
              </a:rPr>
              <a:t>Neural</a:t>
            </a:r>
            <a:r>
              <a:rPr lang="de-DE" sz="1800" dirty="0">
                <a:solidFill>
                  <a:schemeClr val="tx2"/>
                </a:solidFill>
              </a:rPr>
              <a:t> Network </a:t>
            </a:r>
            <a:r>
              <a:rPr lang="de-DE" sz="1800" dirty="0" err="1">
                <a:solidFill>
                  <a:schemeClr val="tx2"/>
                </a:solidFill>
              </a:rPr>
              <a:t>Underperformance</a:t>
            </a:r>
            <a:endParaRPr lang="de-DE" sz="1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73524B72-387E-5A51-FB13-E6E5FF53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978FF-8E3A-8913-B0B2-FA851F71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5A9258-3019-4CFE-9E78-6497EFD09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FA34099-5E73-9CFB-3E3A-DB35ADAF5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9939384-767D-C796-B66B-BF5B0991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5C396C9-34F9-B294-0F62-CFA5C2196A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3E16BB-58FD-8D2D-4EBB-5F5F7370A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9C2149-A394-CE22-294D-BC7E995AF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76E05F7-B265-5F43-E1FE-512F1381B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7D1930-8D86-8D44-A0D4-019F2DCA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5ECC5A5-DD0E-9A8C-FA9D-F670E8BA6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E78B4E5-BC35-A818-36BF-46A7875E5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01E1F19C-2A80-5B9E-8BF1-0897C816B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Discussion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B7C61D-5DA1-3CE2-D003-5877BB53C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900" y="2038161"/>
            <a:ext cx="6375914" cy="322762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NN underperform?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Data imbalance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Simpler models (SVM) may be better for small/medium datasets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Feature engineering differences</a:t>
            </a:r>
          </a:p>
          <a:p>
            <a:pPr marL="457200" lvl="1" indent="0">
              <a:buNone/>
            </a:pPr>
            <a:endParaRPr lang="en-US" sz="14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Comparative analysis?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ML models are strong baselines for text classification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NN may need more data, tuning, or pre-trained embeddings</a:t>
            </a:r>
          </a:p>
        </p:txBody>
      </p:sp>
    </p:spTree>
    <p:extLst>
      <p:ext uri="{BB962C8B-B14F-4D97-AF65-F5344CB8AC3E}">
        <p14:creationId xmlns:p14="http://schemas.microsoft.com/office/powerpoint/2010/main" val="479271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7171-4FC7-B68E-BCB1-59C26865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128AE07F-7A8F-7A0D-25CB-C2688A6A0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156-4757-2687-557C-7DABF94DE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E5B340-BBEB-7824-1EFB-F91AD27C8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8"/>
            <a:chOff x="-305" y="-1"/>
            <a:chExt cx="3832880" cy="287613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E6FDA70-535B-D943-AD24-19A7EF6F0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9595BC4-8C98-B9F4-1027-48A2D2AC5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777EBF8-7D6D-9B52-8930-86FD1327CA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ADC330-0731-CD49-22F2-4BDEDEF7C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27C194-5E76-962C-58E7-94DAB6AF0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569" y="5084569"/>
            <a:ext cx="2151670" cy="1395192"/>
            <a:chOff x="-305" y="-4155"/>
            <a:chExt cx="2514948" cy="217433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3E7EDF8-AA58-A834-A828-275482144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F678A93-9612-39C6-B934-8489EE41C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5C4F1D4-1C3B-1C5A-08AA-58B7ED199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C9C68C-8765-66D2-DAE8-5BFEAD33C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9931155F-398D-0674-354E-54909923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82" y="292274"/>
            <a:ext cx="7372350" cy="610128"/>
          </a:xfrm>
        </p:spPr>
        <p:txBody>
          <a:bodyPr anchor="b">
            <a:normAutofit/>
          </a:bodyPr>
          <a:lstStyle/>
          <a:p>
            <a:r>
              <a:rPr lang="en-US" sz="3100" dirty="0">
                <a:solidFill>
                  <a:schemeClr val="tx2"/>
                </a:solidFill>
              </a:rPr>
              <a:t>Conclusion and Future Work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3EECA6-43F9-8B6D-780A-02FDA398AE4B}"/>
              </a:ext>
            </a:extLst>
          </p:cNvPr>
          <p:cNvSpPr txBox="1"/>
          <p:nvPr/>
        </p:nvSpPr>
        <p:spPr>
          <a:xfrm>
            <a:off x="890694" y="2405440"/>
            <a:ext cx="6729306" cy="264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ct val="20000"/>
              </a:spcBef>
            </a:pPr>
            <a:r>
              <a:rPr lang="en-US" dirty="0">
                <a:solidFill>
                  <a:schemeClr val="tx2"/>
                </a:solidFill>
              </a:rPr>
              <a:t>Summary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•"/>
            </a:pPr>
            <a:r>
              <a:rPr lang="en-US" dirty="0">
                <a:solidFill>
                  <a:schemeClr val="tx2"/>
                </a:solidFill>
              </a:rPr>
              <a:t>Baseline models are strong for small, structured datasets.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•"/>
            </a:pPr>
            <a:r>
              <a:rPr lang="en-US" dirty="0">
                <a:solidFill>
                  <a:schemeClr val="tx2"/>
                </a:solidFill>
              </a:rPr>
              <a:t>Deep learning can be competitive with more data or advanced architectures.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ct val="20000"/>
              </a:spcBef>
            </a:pPr>
            <a:r>
              <a:rPr lang="en-US" dirty="0">
                <a:solidFill>
                  <a:schemeClr val="tx2"/>
                </a:solidFill>
              </a:rPr>
              <a:t>	Next Steps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•"/>
            </a:pPr>
            <a:r>
              <a:rPr lang="en-US" dirty="0">
                <a:solidFill>
                  <a:schemeClr val="tx2"/>
                </a:solidFill>
              </a:rPr>
              <a:t>Experiment with BERT or other transformer models.</a:t>
            </a:r>
          </a:p>
          <a:p>
            <a:pPr marL="742950" lvl="1" indent="-285750">
              <a:spcBef>
                <a:spcPct val="20000"/>
              </a:spcBef>
              <a:buFont typeface="Arial"/>
              <a:buChar char="•"/>
            </a:pPr>
            <a:r>
              <a:rPr lang="en-US" dirty="0">
                <a:solidFill>
                  <a:schemeClr val="tx2"/>
                </a:solidFill>
              </a:rPr>
              <a:t>Explore ensemble methods and further feature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3697555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E0F94-9AE9-B2DF-58F4-D474EF45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4C9B-95BF-C7C5-2BE2-C50164239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8611" y="2058817"/>
            <a:ext cx="4086547" cy="1370183"/>
          </a:xfrm>
        </p:spPr>
        <p:txBody>
          <a:bodyPr anchor="b">
            <a:normAutofit/>
          </a:bodyPr>
          <a:lstStyle/>
          <a:p>
            <a:r>
              <a:rPr lang="de-DE" sz="4500" noProof="0" dirty="0">
                <a:solidFill>
                  <a:schemeClr val="tx2"/>
                </a:solidFill>
              </a:rPr>
              <a:t>Präsentation</a:t>
            </a:r>
            <a:br>
              <a:rPr lang="de-DE" sz="4500" noProof="0" dirty="0">
                <a:solidFill>
                  <a:schemeClr val="tx2"/>
                </a:solidFill>
              </a:rPr>
            </a:br>
            <a:r>
              <a:rPr lang="de-DE" sz="3600" noProof="0" dirty="0">
                <a:solidFill>
                  <a:schemeClr val="tx2"/>
                </a:solidFill>
              </a:rPr>
              <a:t>Team 4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1885FC68-99F8-DCF4-63F2-37092775C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1B4FE-95D4-FE33-D328-F7C036338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67AFF5-FE4C-848F-E199-F293E24B6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2F92D6-AEAB-62B9-EF8A-A1E2B502F449}"/>
              </a:ext>
            </a:extLst>
          </p:cNvPr>
          <p:cNvSpPr txBox="1">
            <a:spLocks/>
          </p:cNvSpPr>
          <p:nvPr/>
        </p:nvSpPr>
        <p:spPr>
          <a:xfrm>
            <a:off x="2528611" y="2058817"/>
            <a:ext cx="4086547" cy="1370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500" dirty="0">
                <a:solidFill>
                  <a:schemeClr val="tx2"/>
                </a:solidFill>
              </a:rPr>
              <a:t>Questions?</a:t>
            </a:r>
            <a:endParaRPr lang="de-DE" sz="3600" dirty="0">
              <a:solidFill>
                <a:schemeClr val="tx2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834A15-340E-AE90-542F-84545C9C7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3672" y="-43336"/>
            <a:ext cx="3872284" cy="2657478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56E2AD6-068B-B77B-34AA-2534D5BA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DB9563D-077A-23A8-726C-A6F5467F1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EDE7D45-155A-A93B-D1AB-8194A5E9F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8AFCEB-68BD-3B80-2CF9-5AEDF5A6E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930A40-8F32-A9CA-6F32-4EE7E5FCC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6793706" y="4146310"/>
            <a:ext cx="23568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C3DEFAD-08AC-7E62-E3DC-4BC0CA8C4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1E81EFC-33D0-D758-76D8-C4E26EAFA1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F607A5-CE10-C876-E2B8-D87E00CB6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04EB0B-AA06-59BF-2AAC-92AB83EA4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3" name="Subtitle 32">
            <a:extLst>
              <a:ext uri="{FF2B5EF4-FFF2-40B4-BE49-F238E27FC236}">
                <a16:creationId xmlns:a16="http://schemas.microsoft.com/office/drawing/2014/main" id="{E3DF8A54-CF39-A712-190E-32A88FD75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18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</a:t>
            </a:r>
            <a:r>
              <a:rPr lang="de-DE" sz="1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18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you</a:t>
            </a:r>
            <a:r>
              <a:rPr lang="de-DE" sz="1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18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for</a:t>
            </a:r>
            <a:r>
              <a:rPr lang="de-DE" sz="1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18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your</a:t>
            </a:r>
            <a:r>
              <a:rPr lang="de-DE" sz="1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18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attention</a:t>
            </a:r>
            <a:r>
              <a:rPr lang="de-DE" sz="1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de-DE" sz="180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</a:t>
            </a:r>
            <a:endParaRPr lang="en-US" sz="1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1505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Bildschirmpräsentation 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Text Classification for Hate Speech Detection</vt:lpstr>
      <vt:lpstr>Introduction</vt:lpstr>
      <vt:lpstr>Literature Review</vt:lpstr>
      <vt:lpstr>Dataset Characteristics</vt:lpstr>
      <vt:lpstr>PowerPoint-Präsentation</vt:lpstr>
      <vt:lpstr>Baseline Model</vt:lpstr>
      <vt:lpstr>Model Selection &amp; Feature Engineering</vt:lpstr>
      <vt:lpstr>Traditional ML Models</vt:lpstr>
      <vt:lpstr>Neural Network Model &amp; Training</vt:lpstr>
      <vt:lpstr>Neural Network Results</vt:lpstr>
      <vt:lpstr>Testing</vt:lpstr>
      <vt:lpstr>Challenges and Errors</vt:lpstr>
      <vt:lpstr>Discussion</vt:lpstr>
      <vt:lpstr>Conclusion and Future Work</vt:lpstr>
      <vt:lpstr>Präsentation Team 4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Ayham N</dc:creator>
  <cp:keywords/>
  <dc:description>generated using python-pptx</dc:description>
  <cp:lastModifiedBy>Ayham N</cp:lastModifiedBy>
  <cp:revision>8</cp:revision>
  <dcterms:created xsi:type="dcterms:W3CDTF">2013-01-27T09:14:16Z</dcterms:created>
  <dcterms:modified xsi:type="dcterms:W3CDTF">2025-07-03T15:03:12Z</dcterms:modified>
  <cp:category/>
</cp:coreProperties>
</file>